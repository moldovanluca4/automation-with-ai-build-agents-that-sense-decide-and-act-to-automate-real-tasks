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
      <p:font typeface="Montserrat Medium"/>
      <p:regular r:id="rId24"/>
      <p:bold r:id="rId25"/>
      <p:italic r:id="rId26"/>
      <p:boldItalic r:id="rId27"/>
    </p:embeddedFont>
    <p:embeddedFont>
      <p:font typeface="Montserrat ExtraBold"/>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MontserratMedium-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italic.fntdata"/><Relationship Id="rId25" Type="http://schemas.openxmlformats.org/officeDocument/2006/relationships/font" Target="fonts/MontserratMedium-bold.fntdata"/><Relationship Id="rId28" Type="http://schemas.openxmlformats.org/officeDocument/2006/relationships/font" Target="fonts/MontserratExtraBold-bold.fntdata"/><Relationship Id="rId27" Type="http://schemas.openxmlformats.org/officeDocument/2006/relationships/font" Target="fonts/Montserrat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ExtraBold-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19" Type="http://schemas.openxmlformats.org/officeDocument/2006/relationships/font" Target="fonts/Montserrat-boldItalic.fntdata"/><Relationship Id="rId18" Type="http://schemas.openxmlformats.org/officeDocument/2006/relationships/font" Target="fonts/Montserra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9cb572dd6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9cb572dd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9cb572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9cb572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9cb572dd6_4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9cb572dd6_4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9cb572dd6_4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9cb572dd6_4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9cb572dd6_5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9cb572dd6_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9cb572dd6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9cb572dd6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9cb572dd6_1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9cb572dd6_1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9cb572dd6_1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9cb572dd6_16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9cb572dd6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9cb572dd6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github.com/moldovanluca4/Automation-with-AI-Build-agents-that-sense-decide-and-act-to-automate-real-task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100"/>
              <a:t>Track 4 - Automations with AI: Build Agents that Sense, Decide, and Act to Automate Real Task</a:t>
            </a:r>
            <a:endParaRPr b="1" sz="21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88"/>
              <a:buNone/>
            </a:pPr>
            <a:r>
              <a:rPr lang="en-GB" sz="1512">
                <a:latin typeface="Montserrat Medium"/>
                <a:ea typeface="Montserrat Medium"/>
                <a:cs typeface="Montserrat Medium"/>
                <a:sym typeface="Montserrat Medium"/>
              </a:rPr>
              <a:t>Moldovan Luca</a:t>
            </a:r>
            <a:endParaRPr sz="1512">
              <a:latin typeface="Montserrat Medium"/>
              <a:ea typeface="Montserrat Medium"/>
              <a:cs typeface="Montserrat Medium"/>
              <a:sym typeface="Montserrat Medium"/>
            </a:endParaRPr>
          </a:p>
          <a:p>
            <a:pPr indent="0" lvl="0" marL="0" rtl="0" algn="l">
              <a:lnSpc>
                <a:spcPct val="80000"/>
              </a:lnSpc>
              <a:spcBef>
                <a:spcPts val="0"/>
              </a:spcBef>
              <a:spcAft>
                <a:spcPts val="0"/>
              </a:spcAft>
              <a:buSzPts val="688"/>
              <a:buNone/>
            </a:pPr>
            <a:r>
              <a:rPr lang="en-GB" sz="1512">
                <a:latin typeface="Montserrat Medium"/>
                <a:ea typeface="Montserrat Medium"/>
                <a:cs typeface="Montserrat Medium"/>
                <a:sym typeface="Montserrat Medium"/>
              </a:rPr>
              <a:t>Moldoveanu Virgiliu-Stefan</a:t>
            </a:r>
            <a:endParaRPr sz="1512">
              <a:latin typeface="Montserrat Medium"/>
              <a:ea typeface="Montserrat Medium"/>
              <a:cs typeface="Montserrat Medium"/>
              <a:sym typeface="Montserrat Medium"/>
            </a:endParaRPr>
          </a:p>
          <a:p>
            <a:pPr indent="0" lvl="0" marL="0" rtl="0" algn="l">
              <a:lnSpc>
                <a:spcPct val="80000"/>
              </a:lnSpc>
              <a:spcBef>
                <a:spcPts val="0"/>
              </a:spcBef>
              <a:spcAft>
                <a:spcPts val="0"/>
              </a:spcAft>
              <a:buSzPts val="688"/>
              <a:buNone/>
            </a:pPr>
            <a:r>
              <a:rPr lang="en-GB" sz="1512">
                <a:latin typeface="Montserrat Medium"/>
                <a:ea typeface="Montserrat Medium"/>
                <a:cs typeface="Montserrat Medium"/>
                <a:sym typeface="Montserrat Medium"/>
              </a:rPr>
              <a:t>Manolescu Neacsu Andrei</a:t>
            </a:r>
            <a:endParaRPr sz="1512">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Links</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https://github.com/moldovanluca4/Automation-with-AI-Build-agents-that-sense-decide-and-act-to-automate-real-tasks</a:t>
            </a:r>
            <a:endParaRPr/>
          </a:p>
          <a:p>
            <a:pPr indent="0" lvl="0" marL="0" rtl="0" algn="l">
              <a:spcBef>
                <a:spcPts val="1200"/>
              </a:spcBef>
              <a:spcAft>
                <a:spcPts val="1200"/>
              </a:spcAft>
              <a:buNone/>
            </a:pPr>
            <a:r>
              <a:rPr lang="en-GB"/>
              <a:t>https://encouraging-onion-589.notion.site/Welcome-to-our-Hackathon-Project-2b5736480c6b801b91b4f601529f7a1a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Market Research Automation Agent</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000">
                <a:latin typeface="Montserrat"/>
                <a:ea typeface="Montserrat"/>
                <a:cs typeface="Montserrat"/>
                <a:sym typeface="Montserrat"/>
              </a:rPr>
              <a:t>Discovery:</a:t>
            </a:r>
            <a:r>
              <a:rPr lang="en-GB" sz="1000">
                <a:latin typeface="Montserrat"/>
                <a:ea typeface="Montserrat"/>
                <a:cs typeface="Montserrat"/>
                <a:sym typeface="Montserrat"/>
              </a:rPr>
              <a:t> Automatically searches blogs and articles to identify competitor websites and URLs.</a:t>
            </a:r>
            <a:endParaRPr sz="1000">
              <a:latin typeface="Montserrat"/>
              <a:ea typeface="Montserrat"/>
              <a:cs typeface="Montserrat"/>
              <a:sym typeface="Montserrat"/>
            </a:endParaRPr>
          </a:p>
          <a:p>
            <a:pPr indent="0" lvl="0" marL="0" rtl="0" algn="l">
              <a:spcBef>
                <a:spcPts val="1200"/>
              </a:spcBef>
              <a:spcAft>
                <a:spcPts val="0"/>
              </a:spcAft>
              <a:buNone/>
            </a:pPr>
            <a:r>
              <a:rPr b="1" lang="en-GB" sz="1000">
                <a:latin typeface="Montserrat"/>
                <a:ea typeface="Montserrat"/>
                <a:cs typeface="Montserrat"/>
                <a:sym typeface="Montserrat"/>
              </a:rPr>
              <a:t>Cleaning: </a:t>
            </a:r>
            <a:r>
              <a:rPr lang="en-GB" sz="1000">
                <a:latin typeface="Montserrat"/>
                <a:ea typeface="Montserrat"/>
                <a:cs typeface="Montserrat"/>
                <a:sym typeface="Montserrat"/>
              </a:rPr>
              <a:t>Uses Pandas to filter out broken links, garbage data, and irrelevant domains (like login pages).</a:t>
            </a:r>
            <a:endParaRPr sz="1000">
              <a:latin typeface="Montserrat"/>
              <a:ea typeface="Montserrat"/>
              <a:cs typeface="Montserrat"/>
              <a:sym typeface="Montserrat"/>
            </a:endParaRPr>
          </a:p>
          <a:p>
            <a:pPr indent="0" lvl="0" marL="0" rtl="0" algn="l">
              <a:spcBef>
                <a:spcPts val="1200"/>
              </a:spcBef>
              <a:spcAft>
                <a:spcPts val="0"/>
              </a:spcAft>
              <a:buNone/>
            </a:pPr>
            <a:r>
              <a:rPr b="1" lang="en-GB" sz="1000">
                <a:latin typeface="Montserrat"/>
                <a:ea typeface="Montserrat"/>
                <a:cs typeface="Montserrat"/>
                <a:sym typeface="Montserrat"/>
              </a:rPr>
              <a:t>Data Enrichment using Linkedin: </a:t>
            </a:r>
            <a:r>
              <a:rPr lang="en-GB" sz="1000">
                <a:latin typeface="Montserrat"/>
                <a:ea typeface="Montserrat"/>
                <a:cs typeface="Montserrat"/>
                <a:sym typeface="Montserrat"/>
              </a:rPr>
              <a:t>Locates company LinkedIn profiles and scrapes structured data like Headquarters, Company Size, and Industry.</a:t>
            </a:r>
            <a:endParaRPr sz="1000">
              <a:latin typeface="Montserrat"/>
              <a:ea typeface="Montserrat"/>
              <a:cs typeface="Montserrat"/>
              <a:sym typeface="Montserrat"/>
            </a:endParaRPr>
          </a:p>
          <a:p>
            <a:pPr indent="0" lvl="0" marL="0" rtl="0" algn="l">
              <a:spcBef>
                <a:spcPts val="1200"/>
              </a:spcBef>
              <a:spcAft>
                <a:spcPts val="0"/>
              </a:spcAft>
              <a:buNone/>
            </a:pPr>
            <a:r>
              <a:rPr b="1" lang="en-GB" sz="1000">
                <a:latin typeface="Montserrat"/>
                <a:ea typeface="Montserrat"/>
                <a:cs typeface="Montserrat"/>
                <a:sym typeface="Montserrat"/>
              </a:rPr>
              <a:t>Sentiment Analysis:</a:t>
            </a:r>
            <a:r>
              <a:rPr lang="en-GB" sz="1000">
                <a:latin typeface="Montserrat"/>
                <a:ea typeface="Montserrat"/>
                <a:cs typeface="Montserrat"/>
                <a:sym typeface="Montserrat"/>
              </a:rPr>
              <a:t> Scrapes forums for "pros and cons," user complaints, and authentic reputation data.</a:t>
            </a:r>
            <a:endParaRPr sz="1000">
              <a:latin typeface="Montserrat"/>
              <a:ea typeface="Montserrat"/>
              <a:cs typeface="Montserrat"/>
              <a:sym typeface="Montserrat"/>
            </a:endParaRPr>
          </a:p>
          <a:p>
            <a:pPr indent="0" lvl="0" marL="0" rtl="0" algn="l">
              <a:spcBef>
                <a:spcPts val="1200"/>
              </a:spcBef>
              <a:spcAft>
                <a:spcPts val="0"/>
              </a:spcAft>
              <a:buNone/>
            </a:pPr>
            <a:r>
              <a:rPr b="1" lang="en-GB" sz="1000">
                <a:latin typeface="Montserrat"/>
                <a:ea typeface="Montserrat"/>
                <a:cs typeface="Montserrat"/>
                <a:sym typeface="Montserrat"/>
              </a:rPr>
              <a:t>Consolidation: </a:t>
            </a:r>
            <a:r>
              <a:rPr lang="en-GB" sz="1000">
                <a:latin typeface="Montserrat"/>
                <a:ea typeface="Montserrat"/>
                <a:cs typeface="Montserrat"/>
                <a:sym typeface="Montserrat"/>
              </a:rPr>
              <a:t>Merges all gathered data into a single master database table for analysis.</a:t>
            </a:r>
            <a:endParaRPr sz="1000">
              <a:latin typeface="Montserrat"/>
              <a:ea typeface="Montserrat"/>
              <a:cs typeface="Montserrat"/>
              <a:sym typeface="Montserrat"/>
            </a:endParaRPr>
          </a:p>
          <a:p>
            <a:pPr indent="0" lvl="0" marL="0" rtl="0" algn="l">
              <a:spcBef>
                <a:spcPts val="1200"/>
              </a:spcBef>
              <a:spcAft>
                <a:spcPts val="1200"/>
              </a:spcAft>
              <a:buNone/>
            </a:pPr>
            <a:r>
              <a:rPr b="1" lang="en-GB" sz="1000">
                <a:latin typeface="Montserrat"/>
                <a:ea typeface="Montserrat"/>
                <a:cs typeface="Montserrat"/>
                <a:sym typeface="Montserrat"/>
              </a:rPr>
              <a:t>Data Migration &amp; Integration: </a:t>
            </a:r>
            <a:r>
              <a:rPr lang="en-GB" sz="1000">
                <a:latin typeface="Montserrat"/>
                <a:ea typeface="Montserrat"/>
                <a:cs typeface="Montserrat"/>
                <a:sym typeface="Montserrat"/>
              </a:rPr>
              <a:t>Custom scripts migrate the consolidated data from the local embedded database to Google Sheets for further processing in n8n workflows. These migration scripts are excluded from the public repository for security purposes as they contain personal Google API credentials.</a:t>
            </a:r>
            <a:endParaRPr sz="10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t>N8N INTEGRATION</a:t>
            </a:r>
            <a:endParaRPr b="1"/>
          </a:p>
        </p:txBody>
      </p:sp>
      <p:sp>
        <p:nvSpPr>
          <p:cNvPr id="153" name="Google Shape;153;p16"/>
          <p:cNvSpPr txBox="1"/>
          <p:nvPr>
            <p:ph idx="1" type="body"/>
          </p:nvPr>
        </p:nvSpPr>
        <p:spPr>
          <a:xfrm>
            <a:off x="1297500" y="1567550"/>
            <a:ext cx="6656100" cy="2911200"/>
          </a:xfrm>
          <a:prstGeom prst="rect">
            <a:avLst/>
          </a:prstGeom>
          <a:solidFill>
            <a:schemeClr val="dk1"/>
          </a:solidFill>
        </p:spPr>
        <p:txBody>
          <a:bodyPr anchorCtr="0" anchor="ctr" bIns="91425" lIns="91425" spcFirstLastPara="1" rIns="91425" wrap="square" tIns="91425">
            <a:noAutofit/>
          </a:bodyPr>
          <a:lstStyle/>
          <a:p>
            <a:pPr indent="-364490" lvl="0" marL="457200" rtl="0" algn="l">
              <a:lnSpc>
                <a:spcPct val="95000"/>
              </a:lnSpc>
              <a:spcBef>
                <a:spcPts val="0"/>
              </a:spcBef>
              <a:spcAft>
                <a:spcPts val="0"/>
              </a:spcAft>
              <a:buSzPts val="2140"/>
              <a:buFont typeface="Montserrat"/>
              <a:buChar char="●"/>
            </a:pPr>
            <a:r>
              <a:rPr b="1" lang="en-GB" sz="2140">
                <a:latin typeface="Montserrat"/>
                <a:ea typeface="Montserrat"/>
                <a:cs typeface="Montserrat"/>
                <a:sym typeface="Montserrat"/>
              </a:rPr>
              <a:t>What is N8N?</a:t>
            </a:r>
            <a:endParaRPr b="1" sz="2140">
              <a:latin typeface="Montserrat"/>
              <a:ea typeface="Montserrat"/>
              <a:cs typeface="Montserrat"/>
              <a:sym typeface="Montserrat"/>
            </a:endParaRPr>
          </a:p>
          <a:p>
            <a:pPr indent="0" lvl="0" marL="457200" rtl="0" algn="l">
              <a:lnSpc>
                <a:spcPct val="95000"/>
              </a:lnSpc>
              <a:spcBef>
                <a:spcPts val="1200"/>
              </a:spcBef>
              <a:spcAft>
                <a:spcPts val="0"/>
              </a:spcAft>
              <a:buSzPts val="935"/>
              <a:buNone/>
            </a:pPr>
            <a:r>
              <a:rPr lang="en-GB" sz="1120">
                <a:solidFill>
                  <a:srgbClr val="EEF0FF"/>
                </a:solidFill>
                <a:latin typeface="Montserrat Medium"/>
                <a:ea typeface="Montserrat Medium"/>
                <a:cs typeface="Montserrat Medium"/>
                <a:sym typeface="Montserrat Medium"/>
              </a:rPr>
              <a:t>Open-source, node-based workflow automation tool that allows users to visually build workflows</a:t>
            </a:r>
            <a:endParaRPr sz="1120">
              <a:solidFill>
                <a:srgbClr val="EEF0FF"/>
              </a:solidFill>
              <a:latin typeface="Montserrat Medium"/>
              <a:ea typeface="Montserrat Medium"/>
              <a:cs typeface="Montserrat Medium"/>
              <a:sym typeface="Montserrat Medium"/>
            </a:endParaRPr>
          </a:p>
          <a:p>
            <a:pPr indent="0" lvl="0" marL="914400" rtl="0" algn="l">
              <a:lnSpc>
                <a:spcPct val="95000"/>
              </a:lnSpc>
              <a:spcBef>
                <a:spcPts val="1200"/>
              </a:spcBef>
              <a:spcAft>
                <a:spcPts val="0"/>
              </a:spcAft>
              <a:buSzPts val="935"/>
              <a:buNone/>
            </a:pPr>
            <a:r>
              <a:t/>
            </a:r>
            <a:endParaRPr sz="1120">
              <a:solidFill>
                <a:srgbClr val="EEF0FF"/>
              </a:solidFill>
              <a:latin typeface="Montserrat Medium"/>
              <a:ea typeface="Montserrat Medium"/>
              <a:cs typeface="Montserrat Medium"/>
              <a:sym typeface="Montserrat Medium"/>
            </a:endParaRPr>
          </a:p>
          <a:p>
            <a:pPr indent="-364490" lvl="0" marL="457200" rtl="0" algn="l">
              <a:lnSpc>
                <a:spcPct val="95000"/>
              </a:lnSpc>
              <a:spcBef>
                <a:spcPts val="1200"/>
              </a:spcBef>
              <a:spcAft>
                <a:spcPts val="0"/>
              </a:spcAft>
              <a:buSzPts val="2140"/>
              <a:buFont typeface="Montserrat"/>
              <a:buChar char="●"/>
            </a:pPr>
            <a:r>
              <a:rPr b="1" lang="en-GB" sz="2140">
                <a:latin typeface="Montserrat"/>
                <a:ea typeface="Montserrat"/>
                <a:cs typeface="Montserrat"/>
                <a:sym typeface="Montserrat"/>
              </a:rPr>
              <a:t>Why did we choose N8N?</a:t>
            </a:r>
            <a:endParaRPr b="1" sz="2140">
              <a:latin typeface="Montserrat"/>
              <a:ea typeface="Montserrat"/>
              <a:cs typeface="Montserrat"/>
              <a:sym typeface="Montserrat"/>
            </a:endParaRPr>
          </a:p>
          <a:p>
            <a:pPr indent="0" lvl="0" marL="457200" rtl="0" algn="l">
              <a:lnSpc>
                <a:spcPct val="95000"/>
              </a:lnSpc>
              <a:spcBef>
                <a:spcPts val="1200"/>
              </a:spcBef>
              <a:spcAft>
                <a:spcPts val="0"/>
              </a:spcAft>
              <a:buSzPts val="935"/>
              <a:buNone/>
            </a:pPr>
            <a:r>
              <a:rPr lang="en-GB" sz="1120">
                <a:solidFill>
                  <a:srgbClr val="EEF0FF"/>
                </a:solidFill>
                <a:latin typeface="Montserrat Medium"/>
                <a:ea typeface="Montserrat Medium"/>
                <a:cs typeface="Montserrat Medium"/>
                <a:sym typeface="Montserrat Medium"/>
              </a:rPr>
              <a:t>N8N bridges the gap between raw code and business logic, creating a seamless hybrid workflow</a:t>
            </a:r>
            <a:endParaRPr sz="1120">
              <a:solidFill>
                <a:srgbClr val="EEF0FF"/>
              </a:solidFill>
              <a:latin typeface="Montserrat Medium"/>
              <a:ea typeface="Montserrat Medium"/>
              <a:cs typeface="Montserrat Medium"/>
              <a:sym typeface="Montserrat Medium"/>
            </a:endParaRPr>
          </a:p>
          <a:p>
            <a:pPr indent="0" lvl="0" marL="914400" rtl="0" algn="l">
              <a:lnSpc>
                <a:spcPct val="95000"/>
              </a:lnSpc>
              <a:spcBef>
                <a:spcPts val="1200"/>
              </a:spcBef>
              <a:spcAft>
                <a:spcPts val="0"/>
              </a:spcAft>
              <a:buSzPts val="935"/>
              <a:buNone/>
            </a:pPr>
            <a:r>
              <a:t/>
            </a:r>
            <a:endParaRPr sz="1120">
              <a:solidFill>
                <a:srgbClr val="EEF0FF"/>
              </a:solidFill>
              <a:latin typeface="Montserrat Medium"/>
              <a:ea typeface="Montserrat Medium"/>
              <a:cs typeface="Montserrat Medium"/>
              <a:sym typeface="Montserrat Medium"/>
            </a:endParaRPr>
          </a:p>
          <a:p>
            <a:pPr indent="-364490" lvl="0" marL="457200" rtl="0" algn="l">
              <a:lnSpc>
                <a:spcPct val="95000"/>
              </a:lnSpc>
              <a:spcBef>
                <a:spcPts val="1200"/>
              </a:spcBef>
              <a:spcAft>
                <a:spcPts val="0"/>
              </a:spcAft>
              <a:buSzPts val="2140"/>
              <a:buFont typeface="Montserrat"/>
              <a:buChar char="●"/>
            </a:pPr>
            <a:r>
              <a:rPr b="1" lang="en-GB" sz="2140">
                <a:latin typeface="Montserrat"/>
                <a:ea typeface="Montserrat"/>
                <a:cs typeface="Montserrat"/>
                <a:sym typeface="Montserrat"/>
              </a:rPr>
              <a:t>How does the workflow look like?</a:t>
            </a:r>
            <a:endParaRPr b="1" sz="214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17"/>
          <p:cNvSpPr txBox="1"/>
          <p:nvPr/>
        </p:nvSpPr>
        <p:spPr>
          <a:xfrm>
            <a:off x="63525" y="1992325"/>
            <a:ext cx="254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lt1"/>
                </a:solidFill>
                <a:latin typeface="Lato"/>
                <a:ea typeface="Lato"/>
                <a:cs typeface="Lato"/>
                <a:sym typeface="Lato"/>
              </a:rPr>
              <a:t>A</a:t>
            </a:r>
            <a:endParaRPr b="1" sz="1300">
              <a:solidFill>
                <a:schemeClr val="lt1"/>
              </a:solidFill>
              <a:latin typeface="Lato"/>
              <a:ea typeface="Lato"/>
              <a:cs typeface="Lato"/>
              <a:sym typeface="Lato"/>
            </a:endParaRPr>
          </a:p>
        </p:txBody>
      </p:sp>
      <p:sp>
        <p:nvSpPr>
          <p:cNvPr id="159" name="Google Shape;159;p17"/>
          <p:cNvSpPr txBox="1"/>
          <p:nvPr/>
        </p:nvSpPr>
        <p:spPr>
          <a:xfrm>
            <a:off x="3579825" y="1166800"/>
            <a:ext cx="29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lt1"/>
                </a:solidFill>
                <a:latin typeface="Lato"/>
                <a:ea typeface="Lato"/>
                <a:cs typeface="Lato"/>
                <a:sym typeface="Lato"/>
              </a:rPr>
              <a:t>B</a:t>
            </a:r>
            <a:endParaRPr b="1" sz="1300">
              <a:solidFill>
                <a:schemeClr val="lt1"/>
              </a:solidFill>
              <a:latin typeface="Lato"/>
              <a:ea typeface="Lato"/>
              <a:cs typeface="Lato"/>
              <a:sym typeface="Lato"/>
            </a:endParaRPr>
          </a:p>
        </p:txBody>
      </p:sp>
      <p:sp>
        <p:nvSpPr>
          <p:cNvPr id="160" name="Google Shape;160;p17"/>
          <p:cNvSpPr txBox="1"/>
          <p:nvPr/>
        </p:nvSpPr>
        <p:spPr>
          <a:xfrm>
            <a:off x="6762750" y="1825650"/>
            <a:ext cx="293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lt1"/>
                </a:solidFill>
                <a:latin typeface="Lato"/>
                <a:ea typeface="Lato"/>
                <a:cs typeface="Lato"/>
                <a:sym typeface="Lato"/>
              </a:rPr>
              <a:t>C</a:t>
            </a:r>
            <a:endParaRPr b="1" sz="1300">
              <a:solidFill>
                <a:schemeClr val="lt1"/>
              </a:solidFill>
              <a:latin typeface="Lato"/>
              <a:ea typeface="Lato"/>
              <a:cs typeface="Lato"/>
              <a:sym typeface="Lato"/>
            </a:endParaRPr>
          </a:p>
        </p:txBody>
      </p:sp>
      <p:sp>
        <p:nvSpPr>
          <p:cNvPr id="161" name="Google Shape;161;p17"/>
          <p:cNvSpPr txBox="1"/>
          <p:nvPr/>
        </p:nvSpPr>
        <p:spPr>
          <a:xfrm>
            <a:off x="119050" y="4024325"/>
            <a:ext cx="2492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lt1"/>
                </a:solidFill>
                <a:latin typeface="Lato"/>
                <a:ea typeface="Lato"/>
                <a:cs typeface="Lato"/>
                <a:sym typeface="Lato"/>
              </a:rPr>
              <a:t>A,B = Output from Python</a:t>
            </a:r>
            <a:endParaRPr sz="1300">
              <a:solidFill>
                <a:schemeClr val="lt1"/>
              </a:solidFill>
              <a:latin typeface="Lato"/>
              <a:ea typeface="Lato"/>
              <a:cs typeface="Lato"/>
              <a:sym typeface="Lato"/>
            </a:endParaRPr>
          </a:p>
          <a:p>
            <a:pPr indent="0" lvl="0" marL="0" rtl="0" algn="l">
              <a:spcBef>
                <a:spcPts val="0"/>
              </a:spcBef>
              <a:spcAft>
                <a:spcPts val="0"/>
              </a:spcAft>
              <a:buNone/>
            </a:pPr>
            <a:r>
              <a:rPr lang="en-GB" sz="1300">
                <a:solidFill>
                  <a:schemeClr val="lt1"/>
                </a:solidFill>
                <a:latin typeface="Lato"/>
                <a:ea typeface="Lato"/>
                <a:cs typeface="Lato"/>
                <a:sym typeface="Lato"/>
              </a:rPr>
              <a:t>C= AI Agent Node </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Înfrumusețează acest slide" id="166" name="Google Shape;166;p18"/>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9" title="Screenshot 2025-11-25 at 20.01.24.png"/>
          <p:cNvPicPr preferRelativeResize="0"/>
          <p:nvPr/>
        </p:nvPicPr>
        <p:blipFill>
          <a:blip r:embed="rId3">
            <a:alphaModFix/>
          </a:blip>
          <a:stretch>
            <a:fillRect/>
          </a:stretch>
        </p:blipFill>
        <p:spPr>
          <a:xfrm>
            <a:off x="1671825" y="152400"/>
            <a:ext cx="5800353"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20" title="Screenshot 2025-11-25 at 20.01.47.png"/>
          <p:cNvPicPr preferRelativeResize="0"/>
          <p:nvPr/>
        </p:nvPicPr>
        <p:blipFill>
          <a:blip r:embed="rId3">
            <a:alphaModFix/>
          </a:blip>
          <a:stretch>
            <a:fillRect/>
          </a:stretch>
        </p:blipFill>
        <p:spPr>
          <a:xfrm>
            <a:off x="1712500" y="152400"/>
            <a:ext cx="5719008"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1" title="Screenshot 2025-11-25 at 20.02.19.png"/>
          <p:cNvPicPr preferRelativeResize="0"/>
          <p:nvPr/>
        </p:nvPicPr>
        <p:blipFill>
          <a:blip r:embed="rId3">
            <a:alphaModFix/>
          </a:blip>
          <a:stretch>
            <a:fillRect/>
          </a:stretch>
        </p:blipFill>
        <p:spPr>
          <a:xfrm>
            <a:off x="1702250" y="189600"/>
            <a:ext cx="5739489"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nvSpPr>
        <p:spPr>
          <a:xfrm>
            <a:off x="1607250" y="1665150"/>
            <a:ext cx="5929500" cy="181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5200">
                <a:solidFill>
                  <a:schemeClr val="lt1"/>
                </a:solidFill>
                <a:latin typeface="Montserrat ExtraBold"/>
                <a:ea typeface="Montserrat ExtraBold"/>
                <a:cs typeface="Montserrat ExtraBold"/>
                <a:sym typeface="Montserrat ExtraBold"/>
              </a:rPr>
              <a:t>Thank You!</a:t>
            </a:r>
            <a:endParaRPr sz="52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